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216743-D83D-174D-817A-7128394B674E}" v="6" dt="2025-12-11T12:50:28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5"/>
  </p:normalViewPr>
  <p:slideViewPr>
    <p:cSldViewPr snapToGrid="0">
      <p:cViewPr>
        <p:scale>
          <a:sx n="122" d="100"/>
          <a:sy n="122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A9E1AA-ED23-41AB-A17B-8D3C3A436DF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95BFA9-80B5-4F6D-A28F-399D016F3B06}">
      <dgm:prSet/>
      <dgm:spPr/>
      <dgm:t>
        <a:bodyPr/>
        <a:lstStyle/>
        <a:p>
          <a:r>
            <a:rPr lang="en-GB" b="1"/>
            <a:t>Why predict market direction?</a:t>
          </a:r>
          <a:endParaRPr lang="en-US"/>
        </a:p>
      </dgm:t>
    </dgm:pt>
    <dgm:pt modelId="{1B1ABA37-2F21-4913-BBAC-3C06084CD11E}" type="parTrans" cxnId="{E1B81718-EF23-4CAA-8839-564DE0A7C669}">
      <dgm:prSet/>
      <dgm:spPr/>
      <dgm:t>
        <a:bodyPr/>
        <a:lstStyle/>
        <a:p>
          <a:endParaRPr lang="en-US"/>
        </a:p>
      </dgm:t>
    </dgm:pt>
    <dgm:pt modelId="{58C007A3-66F2-4AF3-9624-84DE4CA5301E}" type="sibTrans" cxnId="{E1B81718-EF23-4CAA-8839-564DE0A7C669}">
      <dgm:prSet/>
      <dgm:spPr/>
      <dgm:t>
        <a:bodyPr/>
        <a:lstStyle/>
        <a:p>
          <a:endParaRPr lang="en-US"/>
        </a:p>
      </dgm:t>
    </dgm:pt>
    <dgm:pt modelId="{C0B06A20-E61D-4949-B3F6-53AD06C9A257}">
      <dgm:prSet/>
      <dgm:spPr/>
      <dgm:t>
        <a:bodyPr/>
        <a:lstStyle/>
        <a:p>
          <a:r>
            <a:rPr lang="en-GB"/>
            <a:t>Daily S&amp;P 500 direction is notoriously difficult to forecast.</a:t>
          </a:r>
          <a:endParaRPr lang="en-US"/>
        </a:p>
      </dgm:t>
    </dgm:pt>
    <dgm:pt modelId="{B5249518-CD0A-44B5-ABFB-662AC9EE7A7C}" type="parTrans" cxnId="{E3F1769D-AC52-4A53-8D8B-F40C1654EC02}">
      <dgm:prSet/>
      <dgm:spPr/>
      <dgm:t>
        <a:bodyPr/>
        <a:lstStyle/>
        <a:p>
          <a:endParaRPr lang="en-US"/>
        </a:p>
      </dgm:t>
    </dgm:pt>
    <dgm:pt modelId="{D8876460-4C39-4051-A759-DBF2933B91E8}" type="sibTrans" cxnId="{E3F1769D-AC52-4A53-8D8B-F40C1654EC02}">
      <dgm:prSet/>
      <dgm:spPr/>
      <dgm:t>
        <a:bodyPr/>
        <a:lstStyle/>
        <a:p>
          <a:endParaRPr lang="en-US"/>
        </a:p>
      </dgm:t>
    </dgm:pt>
    <dgm:pt modelId="{B0FFB8DF-1333-4866-8389-906A735E0CAA}">
      <dgm:prSet/>
      <dgm:spPr/>
      <dgm:t>
        <a:bodyPr/>
        <a:lstStyle/>
        <a:p>
          <a:r>
            <a:rPr lang="en-GB"/>
            <a:t>Finance theory (EMH) argues that prices follow a random walk, making short-term prediction almost impossible.</a:t>
          </a:r>
          <a:endParaRPr lang="en-US"/>
        </a:p>
      </dgm:t>
    </dgm:pt>
    <dgm:pt modelId="{59002136-6600-4DFC-851B-3A0081F73EB2}" type="parTrans" cxnId="{CCD5B99A-1580-4B46-81F2-A5A0A5657496}">
      <dgm:prSet/>
      <dgm:spPr/>
      <dgm:t>
        <a:bodyPr/>
        <a:lstStyle/>
        <a:p>
          <a:endParaRPr lang="en-US"/>
        </a:p>
      </dgm:t>
    </dgm:pt>
    <dgm:pt modelId="{FD083C22-E9CE-405E-9507-8C9B06C8391B}" type="sibTrans" cxnId="{CCD5B99A-1580-4B46-81F2-A5A0A5657496}">
      <dgm:prSet/>
      <dgm:spPr/>
      <dgm:t>
        <a:bodyPr/>
        <a:lstStyle/>
        <a:p>
          <a:endParaRPr lang="en-US"/>
        </a:p>
      </dgm:t>
    </dgm:pt>
    <dgm:pt modelId="{621D862F-0330-4F3B-AE62-899B50DD8C1F}">
      <dgm:prSet/>
      <dgm:spPr/>
      <dgm:t>
        <a:bodyPr/>
        <a:lstStyle/>
        <a:p>
          <a:r>
            <a:rPr lang="en-GB"/>
            <a:t>Yet quantitative trading research suggests that weak, short-lived patterns </a:t>
          </a:r>
          <a:r>
            <a:rPr lang="en-GB" i="1"/>
            <a:t>might</a:t>
          </a:r>
          <a:r>
            <a:rPr lang="en-GB"/>
            <a:t> exist in technical indicators.</a:t>
          </a:r>
          <a:endParaRPr lang="en-US"/>
        </a:p>
      </dgm:t>
    </dgm:pt>
    <dgm:pt modelId="{258EFA2D-A3DF-4660-8500-4DFDB26A4EE8}" type="parTrans" cxnId="{F8003AE5-287F-491E-95E4-196F832F81FB}">
      <dgm:prSet/>
      <dgm:spPr/>
      <dgm:t>
        <a:bodyPr/>
        <a:lstStyle/>
        <a:p>
          <a:endParaRPr lang="en-US"/>
        </a:p>
      </dgm:t>
    </dgm:pt>
    <dgm:pt modelId="{8FBC7ABD-97E0-486B-B5B6-A29DA9FFA4B2}" type="sibTrans" cxnId="{F8003AE5-287F-491E-95E4-196F832F81FB}">
      <dgm:prSet/>
      <dgm:spPr/>
      <dgm:t>
        <a:bodyPr/>
        <a:lstStyle/>
        <a:p>
          <a:endParaRPr lang="en-US"/>
        </a:p>
      </dgm:t>
    </dgm:pt>
    <dgm:pt modelId="{48574D0F-D0A0-44A1-B98A-359BB96D927C}">
      <dgm:prSet/>
      <dgm:spPr/>
      <dgm:t>
        <a:bodyPr/>
        <a:lstStyle/>
        <a:p>
          <a:r>
            <a:rPr lang="en-GB"/>
            <a:t>Even a 1–2% improvement above chance could matter when scaled to large volumes.</a:t>
          </a:r>
          <a:endParaRPr lang="en-US"/>
        </a:p>
      </dgm:t>
    </dgm:pt>
    <dgm:pt modelId="{C58316EA-70DB-44FD-A70B-5F2869D3CC14}" type="parTrans" cxnId="{E830DDC1-C6DA-4AFD-A300-EB366AEF1A6F}">
      <dgm:prSet/>
      <dgm:spPr/>
      <dgm:t>
        <a:bodyPr/>
        <a:lstStyle/>
        <a:p>
          <a:endParaRPr lang="en-US"/>
        </a:p>
      </dgm:t>
    </dgm:pt>
    <dgm:pt modelId="{EEC6616A-AFC9-4021-85F9-0D8254C65359}" type="sibTrans" cxnId="{E830DDC1-C6DA-4AFD-A300-EB366AEF1A6F}">
      <dgm:prSet/>
      <dgm:spPr/>
      <dgm:t>
        <a:bodyPr/>
        <a:lstStyle/>
        <a:p>
          <a:endParaRPr lang="en-US"/>
        </a:p>
      </dgm:t>
    </dgm:pt>
    <dgm:pt modelId="{905CA76E-483F-4884-BD8E-4BC1FA6FC219}">
      <dgm:prSet/>
      <dgm:spPr/>
      <dgm:t>
        <a:bodyPr/>
        <a:lstStyle/>
        <a:p>
          <a:r>
            <a:rPr lang="en-GB"/>
            <a:t>This creates a natural tension: </a:t>
          </a:r>
          <a:r>
            <a:rPr lang="en-GB" b="1"/>
            <a:t>market efficiency vs. statistical predictability.</a:t>
          </a:r>
          <a:endParaRPr lang="en-US"/>
        </a:p>
      </dgm:t>
    </dgm:pt>
    <dgm:pt modelId="{0BBACEBE-C649-440F-B975-96297C601662}" type="parTrans" cxnId="{DA08F1DA-7B6D-4193-9D45-8F4930F99995}">
      <dgm:prSet/>
      <dgm:spPr/>
      <dgm:t>
        <a:bodyPr/>
        <a:lstStyle/>
        <a:p>
          <a:endParaRPr lang="en-US"/>
        </a:p>
      </dgm:t>
    </dgm:pt>
    <dgm:pt modelId="{62B82F10-035B-41B7-96AA-8FF6CE9C5A9E}" type="sibTrans" cxnId="{DA08F1DA-7B6D-4193-9D45-8F4930F99995}">
      <dgm:prSet/>
      <dgm:spPr/>
      <dgm:t>
        <a:bodyPr/>
        <a:lstStyle/>
        <a:p>
          <a:endParaRPr lang="en-US"/>
        </a:p>
      </dgm:t>
    </dgm:pt>
    <dgm:pt modelId="{812247D2-B3A5-4548-A96E-4CB4D928FC2B}" type="pres">
      <dgm:prSet presAssocID="{34A9E1AA-ED23-41AB-A17B-8D3C3A436DF0}" presName="Name0" presStyleCnt="0">
        <dgm:presLayoutVars>
          <dgm:dir/>
          <dgm:resizeHandles val="exact"/>
        </dgm:presLayoutVars>
      </dgm:prSet>
      <dgm:spPr/>
    </dgm:pt>
    <dgm:pt modelId="{DBB33AAC-7AF6-CE40-A43A-880D5F7322B3}" type="pres">
      <dgm:prSet presAssocID="{DA95BFA9-80B5-4F6D-A28F-399D016F3B06}" presName="node" presStyleLbl="node1" presStyleIdx="0" presStyleCnt="6">
        <dgm:presLayoutVars>
          <dgm:bulletEnabled val="1"/>
        </dgm:presLayoutVars>
      </dgm:prSet>
      <dgm:spPr/>
    </dgm:pt>
    <dgm:pt modelId="{99F652E1-034B-3E47-BAAB-54F709E6F12F}" type="pres">
      <dgm:prSet presAssocID="{58C007A3-66F2-4AF3-9624-84DE4CA5301E}" presName="sibTrans" presStyleLbl="sibTrans1D1" presStyleIdx="0" presStyleCnt="5"/>
      <dgm:spPr/>
    </dgm:pt>
    <dgm:pt modelId="{4292BA31-6575-F049-87D3-12A00EA3261E}" type="pres">
      <dgm:prSet presAssocID="{58C007A3-66F2-4AF3-9624-84DE4CA5301E}" presName="connectorText" presStyleLbl="sibTrans1D1" presStyleIdx="0" presStyleCnt="5"/>
      <dgm:spPr/>
    </dgm:pt>
    <dgm:pt modelId="{1857F309-3C73-0B4D-B537-AF1E11B3B98F}" type="pres">
      <dgm:prSet presAssocID="{C0B06A20-E61D-4949-B3F6-53AD06C9A257}" presName="node" presStyleLbl="node1" presStyleIdx="1" presStyleCnt="6">
        <dgm:presLayoutVars>
          <dgm:bulletEnabled val="1"/>
        </dgm:presLayoutVars>
      </dgm:prSet>
      <dgm:spPr/>
    </dgm:pt>
    <dgm:pt modelId="{282034D3-5145-754F-B35D-81AD21E10A37}" type="pres">
      <dgm:prSet presAssocID="{D8876460-4C39-4051-A759-DBF2933B91E8}" presName="sibTrans" presStyleLbl="sibTrans1D1" presStyleIdx="1" presStyleCnt="5"/>
      <dgm:spPr/>
    </dgm:pt>
    <dgm:pt modelId="{38590349-1F7D-D947-8374-92AFAAA26006}" type="pres">
      <dgm:prSet presAssocID="{D8876460-4C39-4051-A759-DBF2933B91E8}" presName="connectorText" presStyleLbl="sibTrans1D1" presStyleIdx="1" presStyleCnt="5"/>
      <dgm:spPr/>
    </dgm:pt>
    <dgm:pt modelId="{1F1DFA9F-E3C5-754C-B09F-0F3AEEBEDDD7}" type="pres">
      <dgm:prSet presAssocID="{B0FFB8DF-1333-4866-8389-906A735E0CAA}" presName="node" presStyleLbl="node1" presStyleIdx="2" presStyleCnt="6">
        <dgm:presLayoutVars>
          <dgm:bulletEnabled val="1"/>
        </dgm:presLayoutVars>
      </dgm:prSet>
      <dgm:spPr/>
    </dgm:pt>
    <dgm:pt modelId="{75E773FC-3054-2B4F-9038-75B6563BCA29}" type="pres">
      <dgm:prSet presAssocID="{FD083C22-E9CE-405E-9507-8C9B06C8391B}" presName="sibTrans" presStyleLbl="sibTrans1D1" presStyleIdx="2" presStyleCnt="5"/>
      <dgm:spPr/>
    </dgm:pt>
    <dgm:pt modelId="{23884D89-0E1B-6D42-8AE6-B715A631E64D}" type="pres">
      <dgm:prSet presAssocID="{FD083C22-E9CE-405E-9507-8C9B06C8391B}" presName="connectorText" presStyleLbl="sibTrans1D1" presStyleIdx="2" presStyleCnt="5"/>
      <dgm:spPr/>
    </dgm:pt>
    <dgm:pt modelId="{1DA0F036-4E09-D14E-82EA-84D103303F7D}" type="pres">
      <dgm:prSet presAssocID="{621D862F-0330-4F3B-AE62-899B50DD8C1F}" presName="node" presStyleLbl="node1" presStyleIdx="3" presStyleCnt="6">
        <dgm:presLayoutVars>
          <dgm:bulletEnabled val="1"/>
        </dgm:presLayoutVars>
      </dgm:prSet>
      <dgm:spPr/>
    </dgm:pt>
    <dgm:pt modelId="{7D1F2FDD-EB19-7E48-B6FC-AC07974030A3}" type="pres">
      <dgm:prSet presAssocID="{8FBC7ABD-97E0-486B-B5B6-A29DA9FFA4B2}" presName="sibTrans" presStyleLbl="sibTrans1D1" presStyleIdx="3" presStyleCnt="5"/>
      <dgm:spPr/>
    </dgm:pt>
    <dgm:pt modelId="{CD68A001-D2D4-E347-A447-1DDB95C7C59C}" type="pres">
      <dgm:prSet presAssocID="{8FBC7ABD-97E0-486B-B5B6-A29DA9FFA4B2}" presName="connectorText" presStyleLbl="sibTrans1D1" presStyleIdx="3" presStyleCnt="5"/>
      <dgm:spPr/>
    </dgm:pt>
    <dgm:pt modelId="{EDBB3D4A-7287-A842-959D-BAD97A26FA58}" type="pres">
      <dgm:prSet presAssocID="{48574D0F-D0A0-44A1-B98A-359BB96D927C}" presName="node" presStyleLbl="node1" presStyleIdx="4" presStyleCnt="6">
        <dgm:presLayoutVars>
          <dgm:bulletEnabled val="1"/>
        </dgm:presLayoutVars>
      </dgm:prSet>
      <dgm:spPr/>
    </dgm:pt>
    <dgm:pt modelId="{2183B028-DE74-9D48-92AB-EBB890AF683C}" type="pres">
      <dgm:prSet presAssocID="{EEC6616A-AFC9-4021-85F9-0D8254C65359}" presName="sibTrans" presStyleLbl="sibTrans1D1" presStyleIdx="4" presStyleCnt="5"/>
      <dgm:spPr/>
    </dgm:pt>
    <dgm:pt modelId="{A30DCF70-54AC-B449-B424-89123F7B7BFA}" type="pres">
      <dgm:prSet presAssocID="{EEC6616A-AFC9-4021-85F9-0D8254C65359}" presName="connectorText" presStyleLbl="sibTrans1D1" presStyleIdx="4" presStyleCnt="5"/>
      <dgm:spPr/>
    </dgm:pt>
    <dgm:pt modelId="{6C45BFB3-7C88-4749-9118-B8A01F178270}" type="pres">
      <dgm:prSet presAssocID="{905CA76E-483F-4884-BD8E-4BC1FA6FC219}" presName="node" presStyleLbl="node1" presStyleIdx="5" presStyleCnt="6">
        <dgm:presLayoutVars>
          <dgm:bulletEnabled val="1"/>
        </dgm:presLayoutVars>
      </dgm:prSet>
      <dgm:spPr/>
    </dgm:pt>
  </dgm:ptLst>
  <dgm:cxnLst>
    <dgm:cxn modelId="{F7F59602-4F62-2844-9D34-3015E888AED0}" type="presOf" srcId="{58C007A3-66F2-4AF3-9624-84DE4CA5301E}" destId="{99F652E1-034B-3E47-BAAB-54F709E6F12F}" srcOrd="0" destOrd="0" presId="urn:microsoft.com/office/officeart/2016/7/layout/RepeatingBendingProcessNew"/>
    <dgm:cxn modelId="{45E1710B-58C2-7443-A6D0-91D99D36239E}" type="presOf" srcId="{8FBC7ABD-97E0-486B-B5B6-A29DA9FFA4B2}" destId="{7D1F2FDD-EB19-7E48-B6FC-AC07974030A3}" srcOrd="0" destOrd="0" presId="urn:microsoft.com/office/officeart/2016/7/layout/RepeatingBendingProcessNew"/>
    <dgm:cxn modelId="{9F5B680C-E67E-F944-AC2D-1A5EFF073325}" type="presOf" srcId="{905CA76E-483F-4884-BD8E-4BC1FA6FC219}" destId="{6C45BFB3-7C88-4749-9118-B8A01F178270}" srcOrd="0" destOrd="0" presId="urn:microsoft.com/office/officeart/2016/7/layout/RepeatingBendingProcessNew"/>
    <dgm:cxn modelId="{E1B81718-EF23-4CAA-8839-564DE0A7C669}" srcId="{34A9E1AA-ED23-41AB-A17B-8D3C3A436DF0}" destId="{DA95BFA9-80B5-4F6D-A28F-399D016F3B06}" srcOrd="0" destOrd="0" parTransId="{1B1ABA37-2F21-4913-BBAC-3C06084CD11E}" sibTransId="{58C007A3-66F2-4AF3-9624-84DE4CA5301E}"/>
    <dgm:cxn modelId="{0855401A-A57C-6D47-9B91-4F06F64A924C}" type="presOf" srcId="{621D862F-0330-4F3B-AE62-899B50DD8C1F}" destId="{1DA0F036-4E09-D14E-82EA-84D103303F7D}" srcOrd="0" destOrd="0" presId="urn:microsoft.com/office/officeart/2016/7/layout/RepeatingBendingProcessNew"/>
    <dgm:cxn modelId="{945B5F1F-07E4-D449-B9EA-593E4B688247}" type="presOf" srcId="{8FBC7ABD-97E0-486B-B5B6-A29DA9FFA4B2}" destId="{CD68A001-D2D4-E347-A447-1DDB95C7C59C}" srcOrd="1" destOrd="0" presId="urn:microsoft.com/office/officeart/2016/7/layout/RepeatingBendingProcessNew"/>
    <dgm:cxn modelId="{7430AA28-EDF1-3C46-BED3-08C90A48B39C}" type="presOf" srcId="{D8876460-4C39-4051-A759-DBF2933B91E8}" destId="{38590349-1F7D-D947-8374-92AFAAA26006}" srcOrd="1" destOrd="0" presId="urn:microsoft.com/office/officeart/2016/7/layout/RepeatingBendingProcessNew"/>
    <dgm:cxn modelId="{AA64D331-024F-DC46-A6F8-CF8B75558DB8}" type="presOf" srcId="{58C007A3-66F2-4AF3-9624-84DE4CA5301E}" destId="{4292BA31-6575-F049-87D3-12A00EA3261E}" srcOrd="1" destOrd="0" presId="urn:microsoft.com/office/officeart/2016/7/layout/RepeatingBendingProcessNew"/>
    <dgm:cxn modelId="{62D1313A-0C3E-6145-B5CD-02A6D38E0BD5}" type="presOf" srcId="{EEC6616A-AFC9-4021-85F9-0D8254C65359}" destId="{2183B028-DE74-9D48-92AB-EBB890AF683C}" srcOrd="0" destOrd="0" presId="urn:microsoft.com/office/officeart/2016/7/layout/RepeatingBendingProcessNew"/>
    <dgm:cxn modelId="{556F644C-CE48-4148-9076-DFD594FD92F4}" type="presOf" srcId="{D8876460-4C39-4051-A759-DBF2933B91E8}" destId="{282034D3-5145-754F-B35D-81AD21E10A37}" srcOrd="0" destOrd="0" presId="urn:microsoft.com/office/officeart/2016/7/layout/RepeatingBendingProcessNew"/>
    <dgm:cxn modelId="{1479155F-1613-E04E-AAED-58468AFCBA22}" type="presOf" srcId="{C0B06A20-E61D-4949-B3F6-53AD06C9A257}" destId="{1857F309-3C73-0B4D-B537-AF1E11B3B98F}" srcOrd="0" destOrd="0" presId="urn:microsoft.com/office/officeart/2016/7/layout/RepeatingBendingProcessNew"/>
    <dgm:cxn modelId="{126D427F-B505-9E4C-BCCC-23EDF8CC731C}" type="presOf" srcId="{FD083C22-E9CE-405E-9507-8C9B06C8391B}" destId="{23884D89-0E1B-6D42-8AE6-B715A631E64D}" srcOrd="1" destOrd="0" presId="urn:microsoft.com/office/officeart/2016/7/layout/RepeatingBendingProcessNew"/>
    <dgm:cxn modelId="{CCD5B99A-1580-4B46-81F2-A5A0A5657496}" srcId="{34A9E1AA-ED23-41AB-A17B-8D3C3A436DF0}" destId="{B0FFB8DF-1333-4866-8389-906A735E0CAA}" srcOrd="2" destOrd="0" parTransId="{59002136-6600-4DFC-851B-3A0081F73EB2}" sibTransId="{FD083C22-E9CE-405E-9507-8C9B06C8391B}"/>
    <dgm:cxn modelId="{E3F1769D-AC52-4A53-8D8B-F40C1654EC02}" srcId="{34A9E1AA-ED23-41AB-A17B-8D3C3A436DF0}" destId="{C0B06A20-E61D-4949-B3F6-53AD06C9A257}" srcOrd="1" destOrd="0" parTransId="{B5249518-CD0A-44B5-ABFB-662AC9EE7A7C}" sibTransId="{D8876460-4C39-4051-A759-DBF2933B91E8}"/>
    <dgm:cxn modelId="{EE55FCB8-7EC0-774E-BD04-33E46563BB70}" type="presOf" srcId="{34A9E1AA-ED23-41AB-A17B-8D3C3A436DF0}" destId="{812247D2-B3A5-4548-A96E-4CB4D928FC2B}" srcOrd="0" destOrd="0" presId="urn:microsoft.com/office/officeart/2016/7/layout/RepeatingBendingProcessNew"/>
    <dgm:cxn modelId="{E830DDC1-C6DA-4AFD-A300-EB366AEF1A6F}" srcId="{34A9E1AA-ED23-41AB-A17B-8D3C3A436DF0}" destId="{48574D0F-D0A0-44A1-B98A-359BB96D927C}" srcOrd="4" destOrd="0" parTransId="{C58316EA-70DB-44FD-A70B-5F2869D3CC14}" sibTransId="{EEC6616A-AFC9-4021-85F9-0D8254C65359}"/>
    <dgm:cxn modelId="{EC6B66CC-173F-7349-82A9-CAC47B9FDC4F}" type="presOf" srcId="{48574D0F-D0A0-44A1-B98A-359BB96D927C}" destId="{EDBB3D4A-7287-A842-959D-BAD97A26FA58}" srcOrd="0" destOrd="0" presId="urn:microsoft.com/office/officeart/2016/7/layout/RepeatingBendingProcessNew"/>
    <dgm:cxn modelId="{091236CE-5D5D-EE40-8E57-E927A23D0C0C}" type="presOf" srcId="{EEC6616A-AFC9-4021-85F9-0D8254C65359}" destId="{A30DCF70-54AC-B449-B424-89123F7B7BFA}" srcOrd="1" destOrd="0" presId="urn:microsoft.com/office/officeart/2016/7/layout/RepeatingBendingProcessNew"/>
    <dgm:cxn modelId="{DA08F1DA-7B6D-4193-9D45-8F4930F99995}" srcId="{34A9E1AA-ED23-41AB-A17B-8D3C3A436DF0}" destId="{905CA76E-483F-4884-BD8E-4BC1FA6FC219}" srcOrd="5" destOrd="0" parTransId="{0BBACEBE-C649-440F-B975-96297C601662}" sibTransId="{62B82F10-035B-41B7-96AA-8FF6CE9C5A9E}"/>
    <dgm:cxn modelId="{F8003AE5-287F-491E-95E4-196F832F81FB}" srcId="{34A9E1AA-ED23-41AB-A17B-8D3C3A436DF0}" destId="{621D862F-0330-4F3B-AE62-899B50DD8C1F}" srcOrd="3" destOrd="0" parTransId="{258EFA2D-A3DF-4660-8500-4DFDB26A4EE8}" sibTransId="{8FBC7ABD-97E0-486B-B5B6-A29DA9FFA4B2}"/>
    <dgm:cxn modelId="{D37D7EF1-7051-7B4E-B310-AA0EC77DFA7C}" type="presOf" srcId="{FD083C22-E9CE-405E-9507-8C9B06C8391B}" destId="{75E773FC-3054-2B4F-9038-75B6563BCA29}" srcOrd="0" destOrd="0" presId="urn:microsoft.com/office/officeart/2016/7/layout/RepeatingBendingProcessNew"/>
    <dgm:cxn modelId="{E13929F2-54F6-C04F-BEB7-104C700D4ACE}" type="presOf" srcId="{DA95BFA9-80B5-4F6D-A28F-399D016F3B06}" destId="{DBB33AAC-7AF6-CE40-A43A-880D5F7322B3}" srcOrd="0" destOrd="0" presId="urn:microsoft.com/office/officeart/2016/7/layout/RepeatingBendingProcessNew"/>
    <dgm:cxn modelId="{2C2C15FB-5A40-7E47-B858-1DBA8662FA25}" type="presOf" srcId="{B0FFB8DF-1333-4866-8389-906A735E0CAA}" destId="{1F1DFA9F-E3C5-754C-B09F-0F3AEEBEDDD7}" srcOrd="0" destOrd="0" presId="urn:microsoft.com/office/officeart/2016/7/layout/RepeatingBendingProcessNew"/>
    <dgm:cxn modelId="{AAC0F038-EFF1-BC49-8FF1-CD992826AFB9}" type="presParOf" srcId="{812247D2-B3A5-4548-A96E-4CB4D928FC2B}" destId="{DBB33AAC-7AF6-CE40-A43A-880D5F7322B3}" srcOrd="0" destOrd="0" presId="urn:microsoft.com/office/officeart/2016/7/layout/RepeatingBendingProcessNew"/>
    <dgm:cxn modelId="{D6DEC5D3-57F0-E04E-8BE9-85385555D12E}" type="presParOf" srcId="{812247D2-B3A5-4548-A96E-4CB4D928FC2B}" destId="{99F652E1-034B-3E47-BAAB-54F709E6F12F}" srcOrd="1" destOrd="0" presId="urn:microsoft.com/office/officeart/2016/7/layout/RepeatingBendingProcessNew"/>
    <dgm:cxn modelId="{6A7A8769-A786-9140-A09D-EEBFFCDE13EC}" type="presParOf" srcId="{99F652E1-034B-3E47-BAAB-54F709E6F12F}" destId="{4292BA31-6575-F049-87D3-12A00EA3261E}" srcOrd="0" destOrd="0" presId="urn:microsoft.com/office/officeart/2016/7/layout/RepeatingBendingProcessNew"/>
    <dgm:cxn modelId="{3BD478A1-3198-8E4B-9C2A-54F2478525FA}" type="presParOf" srcId="{812247D2-B3A5-4548-A96E-4CB4D928FC2B}" destId="{1857F309-3C73-0B4D-B537-AF1E11B3B98F}" srcOrd="2" destOrd="0" presId="urn:microsoft.com/office/officeart/2016/7/layout/RepeatingBendingProcessNew"/>
    <dgm:cxn modelId="{A9696832-2993-6141-BF81-6D0165CC91E2}" type="presParOf" srcId="{812247D2-B3A5-4548-A96E-4CB4D928FC2B}" destId="{282034D3-5145-754F-B35D-81AD21E10A37}" srcOrd="3" destOrd="0" presId="urn:microsoft.com/office/officeart/2016/7/layout/RepeatingBendingProcessNew"/>
    <dgm:cxn modelId="{DA833CFF-207B-4B4D-AEED-851A81E935FA}" type="presParOf" srcId="{282034D3-5145-754F-B35D-81AD21E10A37}" destId="{38590349-1F7D-D947-8374-92AFAAA26006}" srcOrd="0" destOrd="0" presId="urn:microsoft.com/office/officeart/2016/7/layout/RepeatingBendingProcessNew"/>
    <dgm:cxn modelId="{57DFAAC1-6E1B-EB4C-8485-00BB656C7941}" type="presParOf" srcId="{812247D2-B3A5-4548-A96E-4CB4D928FC2B}" destId="{1F1DFA9F-E3C5-754C-B09F-0F3AEEBEDDD7}" srcOrd="4" destOrd="0" presId="urn:microsoft.com/office/officeart/2016/7/layout/RepeatingBendingProcessNew"/>
    <dgm:cxn modelId="{2751A739-41A7-054F-A847-3FF8E18524A0}" type="presParOf" srcId="{812247D2-B3A5-4548-A96E-4CB4D928FC2B}" destId="{75E773FC-3054-2B4F-9038-75B6563BCA29}" srcOrd="5" destOrd="0" presId="urn:microsoft.com/office/officeart/2016/7/layout/RepeatingBendingProcessNew"/>
    <dgm:cxn modelId="{8DC37F98-66F9-FD46-B11E-984EE003550E}" type="presParOf" srcId="{75E773FC-3054-2B4F-9038-75B6563BCA29}" destId="{23884D89-0E1B-6D42-8AE6-B715A631E64D}" srcOrd="0" destOrd="0" presId="urn:microsoft.com/office/officeart/2016/7/layout/RepeatingBendingProcessNew"/>
    <dgm:cxn modelId="{CB0AB1D8-BAD6-674D-A0B7-8E16D6E12637}" type="presParOf" srcId="{812247D2-B3A5-4548-A96E-4CB4D928FC2B}" destId="{1DA0F036-4E09-D14E-82EA-84D103303F7D}" srcOrd="6" destOrd="0" presId="urn:microsoft.com/office/officeart/2016/7/layout/RepeatingBendingProcessNew"/>
    <dgm:cxn modelId="{5C353C5C-187B-5C48-826A-6BE47F645F51}" type="presParOf" srcId="{812247D2-B3A5-4548-A96E-4CB4D928FC2B}" destId="{7D1F2FDD-EB19-7E48-B6FC-AC07974030A3}" srcOrd="7" destOrd="0" presId="urn:microsoft.com/office/officeart/2016/7/layout/RepeatingBendingProcessNew"/>
    <dgm:cxn modelId="{D4226CFA-8427-F748-BD48-EB0CBE9424BF}" type="presParOf" srcId="{7D1F2FDD-EB19-7E48-B6FC-AC07974030A3}" destId="{CD68A001-D2D4-E347-A447-1DDB95C7C59C}" srcOrd="0" destOrd="0" presId="urn:microsoft.com/office/officeart/2016/7/layout/RepeatingBendingProcessNew"/>
    <dgm:cxn modelId="{C738A49F-415A-1F47-A662-64EC63F1F0FA}" type="presParOf" srcId="{812247D2-B3A5-4548-A96E-4CB4D928FC2B}" destId="{EDBB3D4A-7287-A842-959D-BAD97A26FA58}" srcOrd="8" destOrd="0" presId="urn:microsoft.com/office/officeart/2016/7/layout/RepeatingBendingProcessNew"/>
    <dgm:cxn modelId="{B3ADCAB6-4699-6E4B-8C5D-D325B0E2DCB6}" type="presParOf" srcId="{812247D2-B3A5-4548-A96E-4CB4D928FC2B}" destId="{2183B028-DE74-9D48-92AB-EBB890AF683C}" srcOrd="9" destOrd="0" presId="urn:microsoft.com/office/officeart/2016/7/layout/RepeatingBendingProcessNew"/>
    <dgm:cxn modelId="{AE507786-505D-574C-9C31-78AB9DCDD524}" type="presParOf" srcId="{2183B028-DE74-9D48-92AB-EBB890AF683C}" destId="{A30DCF70-54AC-B449-B424-89123F7B7BFA}" srcOrd="0" destOrd="0" presId="urn:microsoft.com/office/officeart/2016/7/layout/RepeatingBendingProcessNew"/>
    <dgm:cxn modelId="{4F7779E9-C006-0244-B9E6-FE4BEF677125}" type="presParOf" srcId="{812247D2-B3A5-4548-A96E-4CB4D928FC2B}" destId="{6C45BFB3-7C88-4749-9118-B8A01F17827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652E1-034B-3E47-BAAB-54F709E6F12F}">
      <dsp:nvSpPr>
        <dsp:cNvPr id="0" name=""/>
        <dsp:cNvSpPr/>
      </dsp:nvSpPr>
      <dsp:spPr>
        <a:xfrm>
          <a:off x="1941049" y="1301866"/>
          <a:ext cx="415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07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37443" y="1345357"/>
        <a:ext cx="22283" cy="4456"/>
      </dsp:txXfrm>
    </dsp:sp>
    <dsp:sp modelId="{DBB33AAC-7AF6-CE40-A43A-880D5F7322B3}">
      <dsp:nvSpPr>
        <dsp:cNvPr id="0" name=""/>
        <dsp:cNvSpPr/>
      </dsp:nvSpPr>
      <dsp:spPr>
        <a:xfrm>
          <a:off x="5147" y="766275"/>
          <a:ext cx="1937702" cy="11626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949" tIns="99666" rIns="94949" bIns="9966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Why predict market direction?</a:t>
          </a:r>
          <a:endParaRPr lang="en-US" sz="1300" kern="1200"/>
        </a:p>
      </dsp:txBody>
      <dsp:txXfrm>
        <a:off x="5147" y="766275"/>
        <a:ext cx="1937702" cy="1162621"/>
      </dsp:txXfrm>
    </dsp:sp>
    <dsp:sp modelId="{282034D3-5145-754F-B35D-81AD21E10A37}">
      <dsp:nvSpPr>
        <dsp:cNvPr id="0" name=""/>
        <dsp:cNvSpPr/>
      </dsp:nvSpPr>
      <dsp:spPr>
        <a:xfrm>
          <a:off x="4324423" y="1301866"/>
          <a:ext cx="415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071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20816" y="1345357"/>
        <a:ext cx="22283" cy="4456"/>
      </dsp:txXfrm>
    </dsp:sp>
    <dsp:sp modelId="{1857F309-3C73-0B4D-B537-AF1E11B3B98F}">
      <dsp:nvSpPr>
        <dsp:cNvPr id="0" name=""/>
        <dsp:cNvSpPr/>
      </dsp:nvSpPr>
      <dsp:spPr>
        <a:xfrm>
          <a:off x="2388520" y="766275"/>
          <a:ext cx="1937702" cy="1162621"/>
        </a:xfrm>
        <a:prstGeom prst="rect">
          <a:avLst/>
        </a:prstGeom>
        <a:gradFill rotWithShape="0">
          <a:gsLst>
            <a:gs pos="0">
              <a:schemeClr val="accent2">
                <a:hueOff val="1288722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2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2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949" tIns="99666" rIns="94949" bIns="9966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Daily S&amp;P 500 direction is notoriously difficult to forecast.</a:t>
          </a:r>
          <a:endParaRPr lang="en-US" sz="1300" kern="1200"/>
        </a:p>
      </dsp:txBody>
      <dsp:txXfrm>
        <a:off x="2388520" y="766275"/>
        <a:ext cx="1937702" cy="1162621"/>
      </dsp:txXfrm>
    </dsp:sp>
    <dsp:sp modelId="{75E773FC-3054-2B4F-9038-75B6563BCA29}">
      <dsp:nvSpPr>
        <dsp:cNvPr id="0" name=""/>
        <dsp:cNvSpPr/>
      </dsp:nvSpPr>
      <dsp:spPr>
        <a:xfrm>
          <a:off x="973998" y="1927096"/>
          <a:ext cx="4766746" cy="415071"/>
        </a:xfrm>
        <a:custGeom>
          <a:avLst/>
          <a:gdLst/>
          <a:ahLst/>
          <a:cxnLst/>
          <a:rect l="0" t="0" r="0" b="0"/>
          <a:pathLst>
            <a:path>
              <a:moveTo>
                <a:pt x="4766746" y="0"/>
              </a:moveTo>
              <a:lnTo>
                <a:pt x="4766746" y="224635"/>
              </a:lnTo>
              <a:lnTo>
                <a:pt x="0" y="224635"/>
              </a:lnTo>
              <a:lnTo>
                <a:pt x="0" y="415071"/>
              </a:lnTo>
            </a:path>
          </a:pathLst>
        </a:custGeom>
        <a:noFill/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7683" y="2132404"/>
        <a:ext cx="239376" cy="4456"/>
      </dsp:txXfrm>
    </dsp:sp>
    <dsp:sp modelId="{1F1DFA9F-E3C5-754C-B09F-0F3AEEBEDDD7}">
      <dsp:nvSpPr>
        <dsp:cNvPr id="0" name=""/>
        <dsp:cNvSpPr/>
      </dsp:nvSpPr>
      <dsp:spPr>
        <a:xfrm>
          <a:off x="4771894" y="766275"/>
          <a:ext cx="1937702" cy="1162621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949" tIns="99666" rIns="94949" bIns="9966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Finance theory (EMH) argues that prices follow a random walk, making short-term prediction almost impossible.</a:t>
          </a:r>
          <a:endParaRPr lang="en-US" sz="1300" kern="1200"/>
        </a:p>
      </dsp:txBody>
      <dsp:txXfrm>
        <a:off x="4771894" y="766275"/>
        <a:ext cx="1937702" cy="1162621"/>
      </dsp:txXfrm>
    </dsp:sp>
    <dsp:sp modelId="{7D1F2FDD-EB19-7E48-B6FC-AC07974030A3}">
      <dsp:nvSpPr>
        <dsp:cNvPr id="0" name=""/>
        <dsp:cNvSpPr/>
      </dsp:nvSpPr>
      <dsp:spPr>
        <a:xfrm>
          <a:off x="1941049" y="2910158"/>
          <a:ext cx="415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071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09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37443" y="2953650"/>
        <a:ext cx="22283" cy="4456"/>
      </dsp:txXfrm>
    </dsp:sp>
    <dsp:sp modelId="{1DA0F036-4E09-D14E-82EA-84D103303F7D}">
      <dsp:nvSpPr>
        <dsp:cNvPr id="0" name=""/>
        <dsp:cNvSpPr/>
      </dsp:nvSpPr>
      <dsp:spPr>
        <a:xfrm>
          <a:off x="5147" y="2374568"/>
          <a:ext cx="1937702" cy="1162621"/>
        </a:xfrm>
        <a:prstGeom prst="rect">
          <a:avLst/>
        </a:prstGeom>
        <a:gradFill rotWithShape="0">
          <a:gsLst>
            <a:gs pos="0">
              <a:schemeClr val="accent2">
                <a:hueOff val="3866168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8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8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949" tIns="99666" rIns="94949" bIns="9966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Yet quantitative trading research suggests that weak, short-lived patterns </a:t>
          </a:r>
          <a:r>
            <a:rPr lang="en-GB" sz="1300" i="1" kern="1200"/>
            <a:t>might</a:t>
          </a:r>
          <a:r>
            <a:rPr lang="en-GB" sz="1300" kern="1200"/>
            <a:t> exist in technical indicators.</a:t>
          </a:r>
          <a:endParaRPr lang="en-US" sz="1300" kern="1200"/>
        </a:p>
      </dsp:txBody>
      <dsp:txXfrm>
        <a:off x="5147" y="2374568"/>
        <a:ext cx="1937702" cy="1162621"/>
      </dsp:txXfrm>
    </dsp:sp>
    <dsp:sp modelId="{2183B028-DE74-9D48-92AB-EBB890AF683C}">
      <dsp:nvSpPr>
        <dsp:cNvPr id="0" name=""/>
        <dsp:cNvSpPr/>
      </dsp:nvSpPr>
      <dsp:spPr>
        <a:xfrm>
          <a:off x="4324423" y="2910158"/>
          <a:ext cx="415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071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20816" y="2953650"/>
        <a:ext cx="22283" cy="4456"/>
      </dsp:txXfrm>
    </dsp:sp>
    <dsp:sp modelId="{EDBB3D4A-7287-A842-959D-BAD97A26FA58}">
      <dsp:nvSpPr>
        <dsp:cNvPr id="0" name=""/>
        <dsp:cNvSpPr/>
      </dsp:nvSpPr>
      <dsp:spPr>
        <a:xfrm>
          <a:off x="2388520" y="2374568"/>
          <a:ext cx="1937702" cy="1162621"/>
        </a:xfrm>
        <a:prstGeom prst="rect">
          <a:avLst/>
        </a:prstGeom>
        <a:gradFill rotWithShape="0">
          <a:gsLst>
            <a:gs pos="0">
              <a:schemeClr val="accent2">
                <a:hueOff val="5154890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0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0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949" tIns="99666" rIns="94949" bIns="9966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Even a 1–2% improvement above chance could matter when scaled to large volumes.</a:t>
          </a:r>
          <a:endParaRPr lang="en-US" sz="1300" kern="1200"/>
        </a:p>
      </dsp:txBody>
      <dsp:txXfrm>
        <a:off x="2388520" y="2374568"/>
        <a:ext cx="1937702" cy="1162621"/>
      </dsp:txXfrm>
    </dsp:sp>
    <dsp:sp modelId="{6C45BFB3-7C88-4749-9118-B8A01F178270}">
      <dsp:nvSpPr>
        <dsp:cNvPr id="0" name=""/>
        <dsp:cNvSpPr/>
      </dsp:nvSpPr>
      <dsp:spPr>
        <a:xfrm>
          <a:off x="4771894" y="2374568"/>
          <a:ext cx="1937702" cy="1162621"/>
        </a:xfrm>
        <a:prstGeom prst="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949" tIns="99666" rIns="94949" bIns="9966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This creates a natural tension: </a:t>
          </a:r>
          <a:r>
            <a:rPr lang="en-GB" sz="1300" b="1" kern="1200"/>
            <a:t>market efficiency vs. statistical predictability.</a:t>
          </a:r>
          <a:endParaRPr lang="en-US" sz="1300" kern="1200"/>
        </a:p>
      </dsp:txBody>
      <dsp:txXfrm>
        <a:off x="4771894" y="2374568"/>
        <a:ext cx="1937702" cy="1162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F2264-6252-1255-24E2-62DD43118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FAC37-A488-87E8-8387-7E92AE5F3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7334C-43E5-B1E8-39CE-9243D5C1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7E27-D359-F07A-6408-CB995FB9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774A7-69C6-EFA7-D4BF-9C06F723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0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0AF9-F497-5A92-EBD4-457DF0BE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1F7DC-59A1-31B8-6BA4-188E98C39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8612C-2BBD-55D6-9A33-131567CB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E1CB9-2F09-FAE7-46EB-1AB1F512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B0C56-AD24-599D-31AA-16CFC766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9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75A9-072F-F01D-5097-C3D0BEF0B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C93E3-772A-1FC3-AB58-02173C0F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4D4DE-E1DD-9694-1005-A3E1DFE7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A6E1D-A97F-3FAA-62E1-6C2A1192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2DA54-9E17-5D38-EE04-0D78C97E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9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F92E-5E28-95DE-F5BF-DF86BFF3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13996-B719-5B15-31EF-CCA598D08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B86C6-9E7E-D31A-4221-604B06A73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201F7-6EDD-E8F2-315A-6B67251F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8AC52-7D8F-A1C8-2DD6-48A87BF4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8334A-CE30-CF8D-F143-B779551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5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7B01-9E28-0BC1-CD0A-F1CB87CD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79EA2-D6B7-2473-6C3E-9BC34976B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28DF5-CEB0-D87B-F5A5-2596CA972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20A506-2EA0-F3A5-F19B-49D12BA09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20658-F294-1EFB-1337-EC22CA4D3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674FE-4F30-2BBF-F4D4-6F9DC328A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2BC2E-4C0A-3824-8FC0-DA01084A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EA142B-041C-25F8-6F49-07C5AB9B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EF79-9F61-66A9-A6C9-6B8B2DE8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8C393-A4FC-8456-88E6-31A3D6073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71C77-D7DC-7907-84BB-C57F8A2F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AC66E-C61B-FE58-4303-D6548437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2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68CC9-5D22-C35D-09CB-7437504C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7DC54-DE85-1630-789C-32C922DC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CF6C6-79F1-B49C-C525-5913E8EC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2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6E0D-3B40-D13E-7117-94798E68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BE51C-4328-56B5-16C9-7372C721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FC969-5D04-5D5E-16FB-30775731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C3398-E779-9FC1-5699-A322BC5D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576D7-E330-210D-6AAA-3634A8DC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BE0A5-AD2A-028E-56A5-45953802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0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42D7-0239-1A51-237F-5E470788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4BB25-9BB0-5BE6-9D76-5A3448534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D1952-B34C-85B9-BACC-9A1199976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C197F-A849-AAFE-AF48-18DED8A7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A8B2F-8579-80B5-5F22-5B0B5710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652F7-C830-2581-A314-F8C9259A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0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7400-F010-773F-48DB-A21A3E1B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C4AA6-5EB8-4C4B-992D-06BA8AC3B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24BCE-B99C-123C-598D-32524939C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11B63-2F21-8362-FB03-CDA7BFE9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2667B-7A26-C3DE-8619-BC4E85C7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5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61BFC-F7D4-80E6-C1BE-7A097D8D3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76F39-B085-D65A-BE01-935350B81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69DE-669F-8816-BA20-B91EF494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1BC72-5DF9-F0B5-50F2-C86B1F47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7AE2C-869E-5796-4A1C-B7F4ECD2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1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15D8D-74AA-B267-A63A-ECB57F5E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53CCE-37EC-B979-720B-D35A03BEC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BFDC6-0778-DB22-EE01-4A2AB84E5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F316F-DD13-3642-8BE2-BBB903A42D6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2FF4-7D7D-4415-FAE8-D26865A2B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F66F8-A3E6-B4A7-792D-21D0EE500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102B6-E65F-4E41-AFAD-A4AD6CC35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5266-E9D1-3891-B399-D7C5C1F10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0846"/>
            <a:ext cx="9144000" cy="2387600"/>
          </a:xfrm>
        </p:spPr>
        <p:txBody>
          <a:bodyPr>
            <a:noAutofit/>
          </a:bodyPr>
          <a:lstStyle/>
          <a:p>
            <a:r>
              <a:rPr lang="en-GB" sz="4000" dirty="0"/>
              <a:t>USING MACHINE LEARNING METHODS TO TEST THE EFFICIENT MARKET HYPOTHESIS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DD00-B2DA-F3EB-C8E0-0D24905D0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10424"/>
            <a:ext cx="9144000" cy="1655762"/>
          </a:xfrm>
        </p:spPr>
        <p:txBody>
          <a:bodyPr/>
          <a:lstStyle/>
          <a:p>
            <a:r>
              <a:rPr lang="en-US" dirty="0"/>
              <a:t>Lwazi Majenge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DA662-9CCC-25C2-83F8-A77B679AAEAD}"/>
              </a:ext>
            </a:extLst>
          </p:cNvPr>
          <p:cNvSpPr txBox="1"/>
          <p:nvPr/>
        </p:nvSpPr>
        <p:spPr>
          <a:xfrm>
            <a:off x="3757448" y="1837590"/>
            <a:ext cx="46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MACT6100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26538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C6173-C382-43EB-BAF7-0BED0076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Motivation</a:t>
            </a:r>
          </a:p>
        </p:txBody>
      </p:sp>
      <p:pic>
        <p:nvPicPr>
          <p:cNvPr id="6" name="Picture 5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14BC8534-ABE6-813F-400C-1904CF9F8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64" r="26175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C9E559-C493-6199-20DD-F268A301C1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393621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521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229AA-F17F-04C0-C4FD-009B42F4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7D776-F6F2-8752-5372-710BF189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Research Questions</a:t>
            </a:r>
            <a:br>
              <a:rPr lang="en-GB" sz="3600" b="1" dirty="0">
                <a:solidFill>
                  <a:schemeClr val="tx2"/>
                </a:solidFill>
              </a:rPr>
            </a:b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19085E8-6FEC-FC2A-0120-E34210CD7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1713186"/>
            <a:ext cx="5385921" cy="4347785"/>
          </a:xfrm>
        </p:spPr>
        <p:txBody>
          <a:bodyPr anchor="ctr">
            <a:noAutofit/>
          </a:bodyPr>
          <a:lstStyle/>
          <a:p>
            <a:pPr>
              <a:buNone/>
            </a:pP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GB" sz="1400" b="1" dirty="0">
                <a:solidFill>
                  <a:schemeClr val="tx2"/>
                </a:solidFill>
              </a:rPr>
              <a:t>What this project investigates:</a:t>
            </a:r>
            <a:endParaRPr lang="en-GB" sz="1400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1400" b="1" dirty="0">
                <a:solidFill>
                  <a:schemeClr val="tx2"/>
                </a:solidFill>
              </a:rPr>
              <a:t>Predictive signal:</a:t>
            </a:r>
            <a:endParaRPr lang="en-GB" sz="1400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1400" dirty="0">
                <a:solidFill>
                  <a:schemeClr val="tx2"/>
                </a:solidFill>
              </a:rPr>
              <a:t>Can historical OHLCV data and technical indicators produce accuracy meaningfully above 50%?</a:t>
            </a:r>
          </a:p>
          <a:p>
            <a:pPr>
              <a:buFont typeface="+mj-lt"/>
              <a:buAutoNum type="arabicPeriod"/>
            </a:pPr>
            <a:r>
              <a:rPr lang="en-GB" sz="1400" b="1" dirty="0">
                <a:solidFill>
                  <a:schemeClr val="tx2"/>
                </a:solidFill>
              </a:rPr>
              <a:t>Model comparison:</a:t>
            </a:r>
            <a:endParaRPr lang="en-GB" sz="1400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1400" dirty="0">
                <a:solidFill>
                  <a:schemeClr val="tx2"/>
                </a:solidFill>
              </a:rPr>
              <a:t>Do flexible, non-linear models (Random Forest, GBM, DNN) outperform logistic regression?</a:t>
            </a:r>
          </a:p>
          <a:p>
            <a:pPr>
              <a:buFont typeface="+mj-lt"/>
              <a:buAutoNum type="arabicPeriod"/>
            </a:pPr>
            <a:r>
              <a:rPr lang="en-GB" sz="1400" b="1" dirty="0">
                <a:solidFill>
                  <a:schemeClr val="tx2"/>
                </a:solidFill>
              </a:rPr>
              <a:t>Feature relevance:</a:t>
            </a:r>
            <a:endParaRPr lang="en-GB" sz="1400" dirty="0">
              <a:solidFill>
                <a:schemeClr val="tx2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1400" dirty="0">
                <a:solidFill>
                  <a:schemeClr val="tx2"/>
                </a:solidFill>
              </a:rPr>
              <a:t>Which technical indicators (momentum, trend, volatility, oscillators) matter most?</a:t>
            </a:r>
          </a:p>
          <a:p>
            <a:pPr marL="0" indent="0">
              <a:buNone/>
            </a:pPr>
            <a:endParaRPr lang="en-GB" sz="14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GB" sz="1400" b="1" dirty="0">
                <a:solidFill>
                  <a:schemeClr val="tx2"/>
                </a:solidFill>
              </a:rPr>
              <a:t>Overall goal:</a:t>
            </a:r>
            <a:endParaRPr lang="en-GB" sz="14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Test whether any exploitable structure exists in next-day S&amp;P 500 movement.</a:t>
            </a: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Graphic 24" descr="Statistics">
            <a:extLst>
              <a:ext uri="{FF2B5EF4-FFF2-40B4-BE49-F238E27FC236}">
                <a16:creationId xmlns:a16="http://schemas.microsoft.com/office/drawing/2014/main" id="{60C6AB95-C759-F11D-6D63-6B9631638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4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74AE6-888A-9F78-44E3-7E8EE7A2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78655-48D8-9C39-6880-989863BA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/>
              <a:t>Data &amp; Methodology</a:t>
            </a:r>
            <a:endParaRPr lang="en-US" sz="4000"/>
          </a:p>
        </p:txBody>
      </p:sp>
      <p:pic>
        <p:nvPicPr>
          <p:cNvPr id="21" name="Graphic 20" descr="Bar chart">
            <a:extLst>
              <a:ext uri="{FF2B5EF4-FFF2-40B4-BE49-F238E27FC236}">
                <a16:creationId xmlns:a16="http://schemas.microsoft.com/office/drawing/2014/main" id="{450C2E12-4931-2C4E-B5E4-0C8C4638C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F8946-337D-4AFC-EFE4-5D273AB53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1500" b="1"/>
              <a:t>Data:</a:t>
            </a:r>
            <a:endParaRPr lang="en-GB" sz="1500"/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Daily S&amp;P 500 price data (after removing pre-1950 rows with missing volume).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Final dataset: </a:t>
            </a:r>
            <a:r>
              <a:rPr lang="en-GB" sz="1500" b="1"/>
              <a:t>17,808 trading days</a:t>
            </a:r>
            <a:r>
              <a:rPr lang="en-GB" sz="15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Technical indicators generated: RSI, SMA10/50/200, MACD, Bollinger %B, volatility, momentum, stochastics,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Target variable: </a:t>
            </a:r>
            <a:r>
              <a:rPr lang="en-GB" sz="1500" b="1"/>
              <a:t>Up vs Down</a:t>
            </a:r>
            <a:r>
              <a:rPr lang="en-GB" sz="1500"/>
              <a:t>, based on tomorrow’s close.</a:t>
            </a:r>
          </a:p>
          <a:p>
            <a:pPr>
              <a:buNone/>
            </a:pPr>
            <a:br>
              <a:rPr lang="en-GB" sz="1500"/>
            </a:br>
            <a:endParaRPr lang="en-GB" sz="1500"/>
          </a:p>
          <a:p>
            <a:pPr>
              <a:buNone/>
            </a:pPr>
            <a:r>
              <a:rPr lang="en-GB" sz="1500" b="1"/>
              <a:t>Methodology:</a:t>
            </a:r>
            <a:endParaRPr lang="en-GB" sz="1500"/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Chronological train/test split (70% train, 30% test).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Standardisation via recipes.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Models: </a:t>
            </a:r>
            <a:r>
              <a:rPr lang="en-GB" sz="1500" b="1"/>
              <a:t>GLM</a:t>
            </a:r>
            <a:r>
              <a:rPr lang="en-GB" sz="1500"/>
              <a:t>, </a:t>
            </a:r>
            <a:r>
              <a:rPr lang="en-GB" sz="1500" b="1"/>
              <a:t>Random Forest</a:t>
            </a:r>
            <a:r>
              <a:rPr lang="en-GB" sz="1500"/>
              <a:t>, </a:t>
            </a:r>
            <a:r>
              <a:rPr lang="en-GB" sz="1500" b="1"/>
              <a:t>GBM</a:t>
            </a:r>
            <a:r>
              <a:rPr lang="en-GB" sz="1500"/>
              <a:t>, </a:t>
            </a:r>
            <a:r>
              <a:rPr lang="en-GB" sz="1500" b="1"/>
              <a:t>Neural Network</a:t>
            </a:r>
            <a:r>
              <a:rPr lang="en-GB" sz="15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Primary metric: </a:t>
            </a:r>
            <a:r>
              <a:rPr lang="en-GB" sz="1500" b="1"/>
              <a:t>ROC-AUC</a:t>
            </a:r>
            <a:r>
              <a:rPr lang="en-GB" sz="1500"/>
              <a:t> (robust to class imbalance).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Secondary metrics: accuracy &amp; balanced accuracy.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896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56C02-A790-5971-DC40-3C81299F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15857CE9-0412-D8F0-3E1D-C25B87770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76" y="672662"/>
            <a:ext cx="4427855" cy="275633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13FAE-A6BA-4AE5-18F5-2A3B1F534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406" y="1293880"/>
            <a:ext cx="5458838" cy="4192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1500" b="1"/>
              <a:t>Key Findings:</a:t>
            </a:r>
            <a:endParaRPr lang="en-GB" sz="1500"/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All models perform </a:t>
            </a:r>
            <a:r>
              <a:rPr lang="en-GB" sz="1500" b="1"/>
              <a:t>only marginally above chance</a:t>
            </a:r>
            <a:r>
              <a:rPr lang="en-GB" sz="15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Balanced accuracy ≈ 0.50 → equivalent to random guessing.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Neural network collapses to predicting “Up” most of the time, mirroring market bias.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No model outperforms the baseline (always predicting Up).</a:t>
            </a:r>
          </a:p>
          <a:p>
            <a:pPr>
              <a:buNone/>
            </a:pPr>
            <a:br>
              <a:rPr lang="en-GB" sz="1500"/>
            </a:br>
            <a:endParaRPr lang="en-GB" sz="1500"/>
          </a:p>
          <a:p>
            <a:pPr>
              <a:buNone/>
            </a:pPr>
            <a:r>
              <a:rPr lang="en-GB" sz="1500" b="1"/>
              <a:t>Variable importance (RF/GBM):</a:t>
            </a:r>
            <a:endParaRPr lang="en-GB" sz="1500"/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Momentum (ret, mom_10), Bollinger %B, volatility, and stochastics rank highest.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500"/>
              <a:t>Long-term trend indicators (SMA50/200) show little predictive power.</a:t>
            </a:r>
          </a:p>
          <a:p>
            <a:endParaRPr lang="en-US" sz="1500" dirty="0"/>
          </a:p>
        </p:txBody>
      </p:sp>
      <p:pic>
        <p:nvPicPr>
          <p:cNvPr id="5" name="Picture 4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B4BB065F-966D-4414-4A0B-F4D7CDC32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15" y="3623009"/>
            <a:ext cx="4783357" cy="280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4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8F632-53D8-5FE9-772F-081D5AEB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aze">
            <a:extLst>
              <a:ext uri="{FF2B5EF4-FFF2-40B4-BE49-F238E27FC236}">
                <a16:creationId xmlns:a16="http://schemas.microsoft.com/office/drawing/2014/main" id="{7DF5D44A-0FF6-AA55-2400-3DB2F74B2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BF18B-D787-379F-5698-21943AD8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GB" sz="1400" b="1" dirty="0"/>
              <a:t>What do the results tell us?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Daily S&amp;P 500 direction is </a:t>
            </a:r>
            <a:r>
              <a:rPr lang="en-GB" sz="1400" b="1" dirty="0"/>
              <a:t>extremely hard to predict</a:t>
            </a:r>
            <a:r>
              <a:rPr lang="en-GB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Even sophisticated models do not uncover a stable signal.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This strongly supports the </a:t>
            </a:r>
            <a:r>
              <a:rPr lang="en-GB" sz="1400" b="1" dirty="0"/>
              <a:t>Efficient Market Hypothesis</a:t>
            </a:r>
            <a:r>
              <a:rPr lang="en-GB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historical prices and technical indicators hold very limited short-term predictive information. </a:t>
            </a:r>
          </a:p>
          <a:p>
            <a:pPr>
              <a:buNone/>
            </a:pPr>
            <a:br>
              <a:rPr lang="en-GB" sz="1400" dirty="0"/>
            </a:br>
            <a:endParaRPr lang="en-GB" sz="1400" dirty="0"/>
          </a:p>
          <a:p>
            <a:pPr>
              <a:buNone/>
            </a:pPr>
            <a:r>
              <a:rPr lang="en-GB" sz="1400" b="1" dirty="0"/>
              <a:t>Conclusion: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None of the models achieved meaningful predictive accuracy or AUC.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Complex methods (RF, GBM, DNN) offered no improvement over logistic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Markets remain very close to random at a 1-day forecast horizon.</a:t>
            </a:r>
          </a:p>
          <a:p>
            <a:pPr>
              <a:buNone/>
            </a:pPr>
            <a:br>
              <a:rPr lang="en-GB" sz="1400" dirty="0"/>
            </a:br>
            <a:endParaRPr lang="en-GB" sz="1400" dirty="0"/>
          </a:p>
          <a:p>
            <a:pPr>
              <a:buNone/>
            </a:pPr>
            <a:r>
              <a:rPr lang="en-GB" sz="1400" b="1" dirty="0"/>
              <a:t>Future Work:</a:t>
            </a:r>
            <a:endParaRPr lang="en-GB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Use intraday data, macroeconomic variables, or volatility forecasting.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Try alternative targets (e.g., return magnitude instead of direction).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78793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8527</TotalTime>
  <Words>495</Words>
  <Application>Microsoft Macintosh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USING MACHINE LEARNING METHODS TO TEST THE EFFICIENT MARKET HYPOTHESIS</vt:lpstr>
      <vt:lpstr>Motivation</vt:lpstr>
      <vt:lpstr>Research Questions </vt:lpstr>
      <vt:lpstr>Data &amp; Methodology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Lwazi Majenge Majenge</dc:creator>
  <cp:lastModifiedBy>Lwazi Majenge Majenge</cp:lastModifiedBy>
  <cp:revision>2</cp:revision>
  <dcterms:created xsi:type="dcterms:W3CDTF">2025-12-05T15:24:34Z</dcterms:created>
  <dcterms:modified xsi:type="dcterms:W3CDTF">2025-12-11T13:32:03Z</dcterms:modified>
</cp:coreProperties>
</file>